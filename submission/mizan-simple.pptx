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noFill/>
          <a:ln w="28575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1005840"/>
            <a:ext cx="4572000" cy="4572000"/>
          </a:xfrm>
          <a:prstGeom prst="ellipse">
            <a:avLst/>
          </a:prstGeom>
          <a:noFill/>
          <a:ln w="12700">
            <a:solidFill>
              <a:srgbClr val="E8D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48640" y="41148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859536" y="41148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70432" y="41148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481328" y="41148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792224" y="41148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C49A2B"/>
                </a:solidFill>
                <a:latin typeface="Calibri"/>
              </a:defRPr>
            </a:pPr>
            <a:r>
              <a:t>مِيزَان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mizan — the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D6E4DC"/>
                </a:solidFill>
                <a:latin typeface="Calibri"/>
              </a:defRPr>
            </a:pPr>
            <a:r>
              <a:t>An AI that answers Qur’an &amp; hadith questions — then proves every quote.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E8D5A3"/>
                </a:solidFill>
                <a:latin typeface="Calibri"/>
              </a:defRPr>
            </a:pPr>
            <a:r>
              <a:t>Computed badges. Shown evidence. No guessing.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60"/>
            <a:ext cx="1737360" cy="384048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5803D"/>
                </a:solidFill>
                <a:latin typeface="Calibri"/>
              </a:defRPr>
            </a:pPr>
            <a:r>
              <a:t>✓ VERIFIED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794760"/>
            <a:ext cx="1737360" cy="384048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B91C1C"/>
                </a:solidFill>
                <a:latin typeface="Calibri"/>
              </a:defRPr>
            </a:pPr>
            <a:r>
              <a:t>✕ 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2011680" cy="384048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B45309"/>
                </a:solidFill>
                <a:latin typeface="Calibri"/>
              </a:defRPr>
            </a:pPr>
            <a:r>
              <a:t>? UNVERIFIABLE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434840"/>
            <a:ext cx="4937760" cy="50292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D5A3"/>
                </a:solidFill>
                <a:latin typeface="Consolas"/>
              </a:defRPr>
            </a:pPr>
            <a:r>
              <a:t>$  bun run demo    →   VERIFIED + REJECTED in ~1s, offline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E8D5A3"/>
                </a:solidFill>
                <a:latin typeface="Calibri"/>
              </a:defRPr>
            </a:pPr>
            <a:r>
              <a:t>Track 04 · Knowledge &amp; verification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4805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27,234</a:t>
            </a:r>
          </a:p>
          <a:p>
            <a:pPr algn="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D6E4DC"/>
                </a:solidFill>
                <a:latin typeface="Calibri"/>
              </a:defRPr>
            </a:pPr>
            <a:r>
              <a:t>real records checked locally</a:t>
            </a:r>
            <a:br/>
            <a:r>
              <a:t>Qur’an + 4 Sunan + Muwatta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D5A3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8D5A3"/>
                </a:solidFill>
                <a:latin typeface="Calibri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AI makes up religious text — and it looks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Fluent words are not proof. A fake quote fools even careful readers.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22199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C49A2B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88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E2A26"/>
                </a:solidFill>
                <a:latin typeface="Calibri"/>
              </a:defRPr>
            </a:pPr>
            <a:r>
              <a:t>AI writes fluently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91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5C6B66"/>
                </a:solidFill>
                <a:latin typeface="Calibri"/>
              </a:defRPr>
            </a:pPr>
            <a:r>
              <a:t>Models "hallucinate": they produce hadith that read perfectly — but do not exist.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205740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53127" y="222199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7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C49A2B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2788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E2A26"/>
                </a:solidFill>
                <a:latin typeface="Calibri"/>
              </a:defRPr>
            </a:pPr>
            <a:r>
              <a:t>Fake looks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7" y="3291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5C6B66"/>
                </a:solidFill>
                <a:latin typeface="Calibri"/>
              </a:defRPr>
            </a:pPr>
            <a:r>
              <a:t>To a normal reader, an invented quote and a real one look identical.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05740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6447" y="222199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7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C49A2B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7" y="2788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E2A26"/>
                </a:solidFill>
                <a:latin typeface="Calibri"/>
              </a:defRPr>
            </a:pPr>
            <a:r>
              <a:t>Fuzzy checkers 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7" y="3291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5C6B66"/>
                </a:solidFill>
                <a:latin typeface="Calibri"/>
              </a:defRPr>
            </a:pPr>
            <a:r>
              <a:t>A fake-but-plausible hadith can score 97% on similarity. That is the hole (CWE-345).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83480"/>
            <a:ext cx="11064240" cy="114300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B91C1C"/>
                </a:solidFill>
                <a:latin typeface="Calibri"/>
              </a:defRPr>
            </a:pPr>
            <a:r>
              <a:t>Why it matters:  in worship &amp; belief, a wrong quote is not a typo — it becomes false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Answer first — then prove every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Three badges. One rule: only exact containment earns VERIFIED.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395728"/>
            <a:ext cx="2103120" cy="384048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5803D"/>
                </a:solidFill>
                <a:latin typeface="Calibri"/>
              </a:defRPr>
            </a:pPr>
            <a:r>
              <a:t>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The quote is literally inside the source it cites.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20574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53127" y="2221992"/>
            <a:ext cx="502920" cy="64008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53127" y="2395728"/>
            <a:ext cx="2103120" cy="384048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B91C1C"/>
                </a:solidFill>
                <a:latin typeface="Calibri"/>
              </a:defRPr>
            </a:pPr>
            <a:r>
              <a:t>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The source exists — but the quote is NOT in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0574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56447" y="2221992"/>
            <a:ext cx="502920" cy="640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56447" y="2395728"/>
            <a:ext cx="2103120" cy="384048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B45309"/>
                </a:solidFill>
                <a:latin typeface="Calibri"/>
              </a:defRPr>
            </a:pPr>
            <a:r>
              <a:t>UNVERIFIABLE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7" y="2926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Cannot be checked: no citation, paraphrase, timeout…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11064240" cy="1463040"/>
          </a:xfrm>
          <a:prstGeom prst="roundRect">
            <a:avLst/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28032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E8D5A3"/>
                </a:solidFill>
                <a:latin typeface="Calibri"/>
              </a:defRPr>
            </a:pPr>
            <a:r>
              <a:t>Every badge ships with its evidence  —  quoted text  +  source row  +  source URL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If anything fails, the tool says so honestly. It never fakes 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Six small checks — one path to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Each claim walks the same steps. The first failure decides the badge.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15727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2286000"/>
            <a:ext cx="566928" cy="566928"/>
          </a:xfrm>
          <a:prstGeom prst="ellipse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44368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Quote?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5C6B66"/>
                </a:solidFill>
                <a:latin typeface="Calibri"/>
              </a:defRPr>
            </a:pPr>
            <a:r>
              <a:t>empty →</a:t>
            </a:r>
            <a:br/>
            <a:r>
              <a:t>UNVERIFIABLE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49A2B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4016" y="2057400"/>
            <a:ext cx="15727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15184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16936" y="2286000"/>
            <a:ext cx="566928" cy="566928"/>
          </a:xfrm>
          <a:prstGeom prst="ellipse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5456" y="2944368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Citation?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456" y="3611880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5C6B66"/>
                </a:solidFill>
                <a:latin typeface="Calibri"/>
              </a:defRPr>
            </a:pPr>
            <a:r>
              <a:t>none →</a:t>
            </a:r>
            <a:br/>
            <a:r>
              <a:t>UNVERIFIABLE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49A2B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057400"/>
            <a:ext cx="15727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2312" y="2286000"/>
            <a:ext cx="566928" cy="566928"/>
          </a:xfrm>
          <a:prstGeom prst="ellipse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2944368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≤3 cites?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611880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5C6B66"/>
                </a:solidFill>
                <a:latin typeface="Calibri"/>
              </a:defRPr>
            </a:pPr>
            <a:r>
              <a:t>cap the</a:t>
            </a:r>
            <a:br/>
            <a:r>
              <a:t>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49A2B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2057400"/>
            <a:ext cx="15727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45936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47688" y="2286000"/>
            <a:ext cx="566928" cy="566928"/>
          </a:xfrm>
          <a:prstGeom prst="ellipse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944368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Record</a:t>
            </a:r>
            <a:br/>
            <a:r>
              <a:t>found?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611880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5C6B66"/>
                </a:solidFill>
                <a:latin typeface="Calibri"/>
              </a:defRPr>
            </a:pPr>
            <a:r>
              <a:t>missing →</a:t>
            </a:r>
            <a:br/>
            <a:r>
              <a:t>UNVERIFIABLE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49A2B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2057400"/>
            <a:ext cx="15727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11312" y="222199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13064" y="2286000"/>
            <a:ext cx="566928" cy="566928"/>
          </a:xfrm>
          <a:prstGeom prst="ellipse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B3D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1584" y="2944368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Inside it?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3611880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5C6B66"/>
                </a:solidFill>
                <a:latin typeface="Calibri"/>
              </a:defRPr>
            </a:pPr>
            <a:r>
              <a:t>exact match →</a:t>
            </a:r>
            <a:br/>
            <a:r>
              <a:t>VERIFIED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C49A2B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19" y="2057400"/>
            <a:ext cx="157276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76687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78439" y="2286000"/>
            <a:ext cx="566928" cy="566928"/>
          </a:xfrm>
          <a:prstGeom prst="ellipse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59" y="2944368"/>
            <a:ext cx="13898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Proof?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59" y="3611880"/>
            <a:ext cx="1389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5C6B66"/>
                </a:solidFill>
                <a:latin typeface="Calibri"/>
              </a:defRPr>
            </a:pPr>
            <a:r>
              <a:t>no proof →</a:t>
            </a:r>
            <a:br/>
            <a:r>
              <a:t>no badge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709160"/>
            <a:ext cx="11064240" cy="1417320"/>
          </a:xfrm>
          <a:prstGeom prst="roundRect">
            <a:avLst/>
          </a:prstGeom>
          <a:solidFill>
            <a:srgbClr val="F1EAD8"/>
          </a:solidFill>
          <a:ln w="15875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864608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E2A26"/>
                </a:solidFill>
                <a:latin typeface="Calibri"/>
              </a:defRPr>
            </a:pPr>
            <a:r>
              <a:t>Normalization folds tashkeel, tatweel, alef forms &amp; digits — but NEVER changes a letter.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So with or without ـــتشكيل a true quote passes — and a one-word fake can never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USE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Three doors — same verifier behind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Command line, web page, or plug it into any AI assistant (MCP).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A26"/>
                </a:solidFill>
                <a:latin typeface="Calibri"/>
              </a:defRPr>
            </a:pPr>
            <a:r>
              <a:t>A ·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Simplest. One second, offline.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200400"/>
            <a:ext cx="3017520" cy="45720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8D5A3"/>
                </a:solidFill>
                <a:latin typeface="Consolas"/>
              </a:defRPr>
            </a:pPr>
            <a:r>
              <a:t>$ bun run demo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3017520" cy="45720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8D5A3"/>
                </a:solidFill>
                <a:latin typeface="Consolas"/>
              </a:defRPr>
            </a:pPr>
            <a:r>
              <a:t>$ bun run ask "…"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074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E5A43"/>
                </a:solidFill>
                <a:latin typeface="Calibri"/>
              </a:defRPr>
            </a:pPr>
            <a:r>
              <a:t>No key · no internet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59" y="205740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53127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7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A26"/>
                </a:solidFill>
                <a:latin typeface="Calibri"/>
              </a:defRPr>
            </a:pPr>
            <a:r>
              <a:t>B · Web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7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Click and see the badge.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7" y="3200400"/>
            <a:ext cx="3017520" cy="45720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8D5A3"/>
                </a:solidFill>
                <a:latin typeface="Consolas"/>
              </a:defRPr>
            </a:pPr>
            <a:r>
              <a:t>$ bun run demo-server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7" y="3767328"/>
            <a:ext cx="3017520" cy="45720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8D5A3"/>
                </a:solidFill>
                <a:latin typeface="Consolas"/>
              </a:defRPr>
            </a:pPr>
            <a:r>
              <a:t>open localhost:3000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7" y="44074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E5A43"/>
                </a:solidFill>
                <a:latin typeface="Calibri"/>
              </a:defRPr>
            </a:pPr>
            <a:r>
              <a:t>No code needed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05740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56447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7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A26"/>
                </a:solidFill>
                <a:latin typeface="Calibri"/>
              </a:defRPr>
            </a:pPr>
            <a:r>
              <a:t>C · MCP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7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For AI clients like Claude.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7" y="3200400"/>
            <a:ext cx="3017520" cy="45720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8D5A3"/>
                </a:solidFill>
                <a:latin typeface="Consolas"/>
              </a:defRPr>
            </a:pPr>
            <a:r>
              <a:t>$ bun run mcp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7" y="3767328"/>
            <a:ext cx="3017520" cy="45720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8D5A3"/>
                </a:solidFill>
                <a:latin typeface="Consolas"/>
              </a:defRPr>
            </a:pPr>
            <a:r>
              <a:t>tool: verify (read-only)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7" y="44074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E5A43"/>
                </a:solidFill>
                <a:latin typeface="Calibri"/>
              </a:defRPr>
            </a:pPr>
            <a:r>
              <a:t>Answers: verified /</a:t>
            </a:r>
            <a:br/>
            <a:r>
              <a:t>rejected / unverifiable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Real input → real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What a judge sees in the terminal in about one second.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6949440" cy="3931920"/>
          </a:xfrm>
          <a:prstGeom prst="roundRect">
            <a:avLst/>
          </a:prstGeom>
          <a:solidFill>
            <a:srgbClr val="101815"/>
          </a:solidFill>
          <a:ln w="19050">
            <a:solidFill>
              <a:srgbClr val="0E5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E8D5A3"/>
                </a:solidFill>
                <a:latin typeface="Consolas"/>
              </a:defRPr>
            </a:pPr>
            <a:r>
              <a:t>$ bun run ask "oneness of God?"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Consolas"/>
              </a:defRPr>
            </a:pPr>
            <a:r>
              <a:t>[✓ VERIFIED]  ikhlas-1 — exact_containment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DCFCE7"/>
                </a:solidFill>
                <a:latin typeface="Consolas"/>
              </a:defRPr>
            </a:pPr>
            <a:r>
              <a:t>  quoted:  قُلْ هُوَ ٱللَّهُ أَحَدٌ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D6E4DC"/>
                </a:solidFill>
                <a:latin typeface="Consolas"/>
              </a:defRPr>
            </a:pPr>
            <a:r>
              <a:t>  source:  quran 6222 — tanzil.net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EE2E2"/>
                </a:solidFill>
                <a:latin typeface="Consolas"/>
              </a:defRPr>
            </a:pPr>
            <a:r>
              <a:t>[✕ REJECTED]  one-word-changed hadith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D6E4DC"/>
                </a:solidFill>
                <a:latin typeface="Consolas"/>
              </a:defRPr>
            </a:pPr>
            <a:r>
              <a:t>  + real nearby hadith shown as proof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EF3C7"/>
                </a:solidFill>
                <a:latin typeface="Consolas"/>
              </a:defRPr>
            </a:pPr>
            <a:r>
              <a:t>[? UNVERIFIABLE]  paraphrase — reason named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011680"/>
            <a:ext cx="3840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73568" y="217627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194560"/>
            <a:ext cx="3438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Same words?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5C6B66"/>
                </a:solidFill>
                <a:latin typeface="Calibri"/>
              </a:defRPr>
            </a:pPr>
            <a:r>
              <a:t>Containment compares folded text — quotes with or without tashkeel both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383280"/>
            <a:ext cx="3840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3568" y="354787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66160"/>
            <a:ext cx="3438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Changed a word?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5C6B66"/>
                </a:solidFill>
                <a:latin typeface="Calibri"/>
              </a:defRPr>
            </a:pPr>
            <a:r>
              <a:t>Fold differs → REJECTED. No 97% escape hatch.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754880"/>
            <a:ext cx="38404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73568" y="4919472"/>
            <a:ext cx="502920" cy="64008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937760"/>
            <a:ext cx="3438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1E2A26"/>
                </a:solidFill>
                <a:latin typeface="Calibri"/>
              </a:defRPr>
            </a:pPr>
            <a:r>
              <a:t>Only a meaning?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5C6B66"/>
                </a:solidFill>
                <a:latin typeface="Calibri"/>
              </a:defRPr>
            </a:pPr>
            <a:r>
              <a:t>Paraphrase → UNVERIFIABLE. Honest, not accused.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Rules no one can bypass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Not promises — machine-checked gates that fail the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585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A26"/>
                </a:solidFill>
                <a:latin typeface="Calibri"/>
              </a:defRPr>
            </a:pPr>
            <a:r>
              <a:t>Exact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7919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No similarity, no percentages, no embedding path to 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222199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585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A26"/>
                </a:solidFill>
                <a:latin typeface="Calibri"/>
              </a:defRPr>
            </a:pPr>
            <a:r>
              <a:t>One road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7919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A single VERIFIED construction site. CI fails if a second appears (G-6).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400507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0416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A26"/>
                </a:solidFill>
                <a:latin typeface="Calibri"/>
              </a:defRPr>
            </a:pPr>
            <a:r>
              <a:t>Grades stay honest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46227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Stored exactly as the dataset says — or null. Never invented.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4048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19088" y="4005072"/>
            <a:ext cx="502920" cy="64008"/>
          </a:xfrm>
          <a:prstGeom prst="round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416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E2A26"/>
                </a:solidFill>
                <a:latin typeface="Calibri"/>
              </a:defRPr>
            </a:pPr>
            <a:r>
              <a:t>Private by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46227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C6B66"/>
                </a:solidFill>
                <a:latin typeface="Calibri"/>
              </a:defRPr>
            </a:pPr>
            <a:r>
              <a:t>Logs carry hashes, never your question. Attested ledger.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12191695" cy="50292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561320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872216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183112" y="50292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94008" y="50292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1168"/>
            <a:ext cx="2148840" cy="310896"/>
          </a:xfrm>
          <a:prstGeom prst="round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B3D2E"/>
                </a:solidFill>
                <a:latin typeface="Calibri"/>
              </a:defRPr>
            </a:pPr>
            <a:r>
              <a:t>HONESTY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What we do NOT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D6E4DC"/>
                </a:solidFill>
                <a:latin typeface="Calibri"/>
              </a:defRPr>
            </a:pPr>
            <a:r>
              <a:t>An over-claim here would be a religious error, not a marketing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C6B66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11064240" cy="38862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286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◇  No Bukhari / Muslim yet — the biggest gap, stated upfront.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9923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◇  Paraphrase ⇒ UNVERIFIABLE, never VERIFIED (26 cases ruled by humans).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4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◇  Default mode replays a labelled recording; live mode needs your API key.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25696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◇  It proves the QUOTE exists — not that the interpretation is correct.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E2A26"/>
                </a:solidFill>
                <a:latin typeface="Calibri"/>
              </a:defRPr>
            </a:pPr>
            <a:r>
              <a:t>◇  A hadith grade is the dataset’s grade, never our ruling.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0561320" y="45720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872216" y="45720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183112" y="457200"/>
            <a:ext cx="118872" cy="118872"/>
          </a:xfrm>
          <a:prstGeom prst="diamond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94008" y="457200"/>
            <a:ext cx="118872" cy="118872"/>
          </a:xfrm>
          <a:prstGeom prst="diamond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E8D5A3"/>
                </a:solidFill>
                <a:latin typeface="Calibri"/>
              </a:defRPr>
            </a:pPr>
            <a:r>
              <a:t>REMEMBER THREE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234440"/>
            <a:ext cx="2011680" cy="384048"/>
          </a:xfrm>
          <a:prstGeom prst="roundRect">
            <a:avLst/>
          </a:prstGeom>
          <a:solidFill>
            <a:srgbClr val="C49A2B"/>
          </a:solidFill>
          <a:ln w="15875">
            <a:solidFill>
              <a:srgbClr val="0B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B3D2E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2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AI invents hadith that look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404872"/>
            <a:ext cx="2011680" cy="384048"/>
          </a:xfrm>
          <a:prstGeom prst="roundRect">
            <a:avLst/>
          </a:prstGeom>
          <a:solidFill>
            <a:srgbClr val="C49A2B"/>
          </a:solidFill>
          <a:ln w="15875">
            <a:solidFill>
              <a:srgbClr val="0B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B3D2E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86584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mizan checks each quote against the real source — exact match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575304"/>
            <a:ext cx="2011680" cy="384048"/>
          </a:xfrm>
          <a:prstGeom prst="roundRect">
            <a:avLst/>
          </a:prstGeom>
          <a:solidFill>
            <a:srgbClr val="C49A2B"/>
          </a:solidFill>
          <a:ln w="15875">
            <a:solidFill>
              <a:srgbClr val="0B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B3D2E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557016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ask → AI answers → every claim gets a computed badge +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983480"/>
            <a:ext cx="5029200" cy="548640"/>
          </a:xfrm>
          <a:prstGeom prst="roundRect">
            <a:avLst/>
          </a:prstGeom>
          <a:solidFill>
            <a:srgbClr val="101815"/>
          </a:solidFill>
          <a:ln w="12700">
            <a:solidFill>
              <a:srgbClr val="C4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D5A3"/>
                </a:solidFill>
                <a:latin typeface="Consolas"/>
              </a:defRPr>
            </a:pPr>
            <a:r>
              <a:t>$ bun install  &amp;&amp;  bun run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8D5A3"/>
                </a:solidFill>
                <a:latin typeface="Calibri"/>
              </a:defRPr>
            </a:pPr>
            <a:r>
              <a:t>نُعلِّم الآلة .. لِتخدم الرسالة — with proof.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D5A3"/>
                </a:solidFill>
                <a:latin typeface="Calibri"/>
              </a:defRPr>
            </a:pPr>
            <a:r>
              <a:t>mizan (ميزان)  ·  the badge is computed, not asserted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8D5A3"/>
                </a:solidFill>
                <a:latin typeface="Calibr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