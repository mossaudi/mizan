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5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A5A5A"/>
                </a:solidFill>
                <a:latin typeface="Arial"/>
              </a:rPr>
              <a:t>1/10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800" b="1">
                <a:solidFill>
                  <a:srgbClr val="0E5A43"/>
                </a:solidFill>
                <a:latin typeface="Arial"/>
                <a:ea typeface="Arial"/>
                <a:cs typeface="Arial"/>
              </a:rPr>
              <a:t>ميزان  Mizan — الشارةُ محسوبة لا مُدّعاة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600" b="0">
                <a:solidFill>
                  <a:srgbClr val="1A1A1A"/>
                </a:solidFill>
                <a:latin typeface="Arial"/>
                <a:ea typeface="Arial"/>
                <a:cs typeface="Arial"/>
              </a:rPr>
              <a:t>تحقّق حسابي من كل اقتباس في إجابات القرآن والحديث قبل عرضه على إنسان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15600" y="1828800"/>
            <a:ext cx="1005840" cy="50800"/>
          </a:xfrm>
          <a:prstGeom prst="rect">
            <a:avLst/>
          </a:prstGeom>
          <a:solidFill>
            <a:srgbClr val="C4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10881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500"/>
              </a:spcAft>
            </a:pPr>
            <a:r>
              <a:rPr sz="1900" b="0">
                <a:solidFill>
                  <a:srgbClr val="1A1A1A"/>
                </a:solidFill>
                <a:latin typeface="Arial"/>
                <a:ea typeface="Arial"/>
                <a:cs typeface="Arial"/>
              </a:rPr>
              <a:t>•  تحدٍّ الذكاء الاصطناعي في خدمة المحتوى الإسلامي 2026 · islamicaich.org</a:t>
            </a:r>
          </a:p>
          <a:p>
            <a:pPr algn="r" rtl="1">
              <a:spcAft>
                <a:spcPts val="1500"/>
              </a:spcAft>
            </a:pPr>
            <a:r>
              <a:rPr sz="1900" b="0">
                <a:solidFill>
                  <a:srgbClr val="1A1A1A"/>
                </a:solidFill>
                <a:latin typeface="Arial"/>
                <a:ea typeface="Arial"/>
                <a:cs typeface="Arial"/>
              </a:rPr>
              <a:t>•  المسار 04 (أدوات المعرفة والتحقق) · متوافق مع المسار 01 (الإجابات الموثوقة)</a:t>
            </a:r>
          </a:p>
          <a:p>
            <a:pPr algn="r" rtl="1">
              <a:spcAft>
                <a:spcPts val="1500"/>
              </a:spcAft>
            </a:pPr>
            <a:r>
              <a:rPr sz="1900" b="0">
                <a:solidFill>
                  <a:srgbClr val="1A1A1A"/>
                </a:solidFill>
                <a:latin typeface="Arial"/>
                <a:ea typeface="Arial"/>
                <a:cs typeface="Arial"/>
              </a:rPr>
              <a:t>•  شعارنا: نُعلّم الآلة.. لتخدم الرسالة — والتزامنا دليلٌ لا ادعاء</a:t>
            </a:r>
          </a:p>
          <a:p>
            <a:pPr algn="r" rtl="1">
              <a:spcAft>
                <a:spcPts val="1500"/>
              </a:spcAft>
            </a:pPr>
            <a:r>
              <a:rPr sz="1900" b="0">
                <a:solidFill>
                  <a:srgbClr val="1A1A1A"/>
                </a:solidFill>
                <a:latin typeface="Arial"/>
                <a:ea typeface="Arial"/>
                <a:cs typeface="Arial"/>
              </a:rPr>
              <a:t>•  يُفحص بالأمر نفسه: bun run demo — بلا مفتاح ولا شبكة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5A5A5A"/>
                </a:solidFill>
                <a:latin typeface="Arial"/>
              </a:rPr>
              <a:t>ميزان (mizan)  ·  الشارة محسوبة لا مُدّعاة  ·  islamicaich.org — المسار 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5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A5A5A"/>
                </a:solidFill>
                <a:latin typeface="Arial"/>
              </a:rPr>
              <a:t>2/10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800" b="1">
                <a:solidFill>
                  <a:srgbClr val="0E5A43"/>
                </a:solidFill>
                <a:latin typeface="Arial"/>
                <a:ea typeface="Arial"/>
                <a:cs typeface="Arial"/>
              </a:rPr>
              <a:t>1 · المشكلة: نموذجٌ يخترع نصًّا شرعيًّا بثقة تامة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600" b="0">
                <a:solidFill>
                  <a:srgbClr val="1A1A1A"/>
                </a:solidFill>
                <a:latin typeface="Arial"/>
                <a:ea typeface="Arial"/>
                <a:cs typeface="Arial"/>
              </a:rPr>
              <a:t>الوهم هنا أقوى من الكذب: ثمن الخطأ سلطةٌ دينيةٌ كاذبة لا خطأ تجربة مستخدم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15600" y="1828800"/>
            <a:ext cx="1005840" cy="50800"/>
          </a:xfrm>
          <a:prstGeom prst="rect">
            <a:avLst/>
          </a:prstGeom>
          <a:solidFill>
            <a:srgbClr val="C4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10881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500"/>
              </a:spcAft>
            </a:pPr>
            <a:r>
              <a:rPr sz="1900" b="0">
                <a:solidFill>
                  <a:srgbClr val="1A1A1A"/>
                </a:solidFill>
                <a:latin typeface="Arial"/>
                <a:ea typeface="Arial"/>
                <a:cs typeface="Arial"/>
              </a:rPr>
              <a:t>•  نماذج غربية تهيمن على العربية، وبيانات المحتوى الإسلامي الموثوقة شحيح</a:t>
            </a:r>
          </a:p>
          <a:p>
            <a:pPr algn="r" rtl="1">
              <a:spcAft>
                <a:spcPts val="1500"/>
              </a:spcAft>
            </a:pPr>
            <a:r>
              <a:rPr sz="1900" b="0">
                <a:solidFill>
                  <a:srgbClr val="1A1A1A"/>
                </a:solidFill>
                <a:latin typeface="Arial"/>
                <a:ea typeface="Arial"/>
                <a:cs typeface="Arial"/>
              </a:rPr>
              <a:t>•  الاقتباس المخترع لا يُفرقه غير المتخصص عن الحقيقي — والخطأ يقع في العبادة والاعتقاد</a:t>
            </a:r>
          </a:p>
          <a:p>
            <a:pPr algn="r" rtl="1">
              <a:spcAft>
                <a:spcPts val="1500"/>
              </a:spcAft>
            </a:pPr>
            <a:r>
              <a:rPr sz="1900" b="0">
                <a:solidFill>
                  <a:srgbClr val="1A1A1A"/>
                </a:solidFill>
                <a:latin typeface="Arial"/>
                <a:ea typeface="Arial"/>
                <a:cs typeface="Arial"/>
              </a:rPr>
              <a:t>•  قياس 2026: دقة النماذج اللغوية في التحقق من الحديث ≈ 8% — فلا تجعل النموذج حاكمًا</a:t>
            </a:r>
          </a:p>
          <a:p>
            <a:pPr algn="r" rtl="1">
              <a:spcAft>
                <a:spcPts val="1500"/>
              </a:spcAft>
            </a:pPr>
            <a:r>
              <a:rPr sz="1900" b="0">
                <a:solidFill>
                  <a:srgbClr val="1A1A1A"/>
                </a:solidFill>
                <a:latin typeface="Arial"/>
                <a:ea typeface="Arial"/>
                <a:cs typeface="Arial"/>
              </a:rPr>
              <a:t>•  أدوات التحقق بالتشابه تمنح الحديث المخترع درجة عالية — ثغرة CWE-345 المقيسة لا المفترضة</a:t>
            </a:r>
          </a:p>
          <a:p>
            <a:pPr algn="r" rtl="1">
              <a:spcAft>
                <a:spcPts val="1500"/>
              </a:spcAft>
            </a:pPr>
            <a:r>
              <a:rPr sz="1900" b="0">
                <a:solidFill>
                  <a:srgbClr val="1A1A1A"/>
                </a:solidFill>
                <a:latin typeface="Arial"/>
                <a:ea typeface="Arial"/>
                <a:cs typeface="Arial"/>
              </a:rPr>
              <a:t>•  أي بحث عادي يقول «وجدنا» ولا يقول «العبارة موجودة فعلًا في هذا المرجع المحدد»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5A5A5A"/>
                </a:solidFill>
                <a:latin typeface="Arial"/>
              </a:rPr>
              <a:t>ميزان (mizan)  ·  الشارة محسوبة لا مُدّعاة  ·  islamicaich.org — المسار 04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5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A5A5A"/>
                </a:solidFill>
                <a:latin typeface="Arial"/>
              </a:rPr>
              <a:t>3/10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37760" y="320040"/>
            <a:ext cx="6766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800" b="1">
                <a:solidFill>
                  <a:srgbClr val="0E5A43"/>
                </a:solidFill>
                <a:latin typeface="Arial"/>
                <a:ea typeface="Arial"/>
                <a:cs typeface="Arial"/>
              </a:rPr>
              <a:t>2 · الحل: أَجِبْ، ثم أَثْبِتْ كل اقتباس على حدة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0" y="1143000"/>
            <a:ext cx="6766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600" b="0">
                <a:solidFill>
                  <a:srgbClr val="1A1A1A"/>
                </a:solidFill>
                <a:latin typeface="Arial"/>
                <a:ea typeface="Arial"/>
                <a:cs typeface="Arial"/>
              </a:rPr>
              <a:t>ثلاث شارات، كل واحدة محسوبة من النص نفسه — لا يطلبها النموذج ولا يوقّعها إنسان</a:t>
            </a:r>
          </a:p>
        </p:txBody>
      </p:sp>
      <p:sp>
        <p:nvSpPr>
          <p:cNvPr id="6" name="Rectangle 5"/>
          <p:cNvSpPr/>
          <p:nvPr/>
        </p:nvSpPr>
        <p:spPr>
          <a:xfrm>
            <a:off x="10698480" y="1828800"/>
            <a:ext cx="1005840" cy="50800"/>
          </a:xfrm>
          <a:prstGeom prst="rect">
            <a:avLst/>
          </a:prstGeom>
          <a:solidFill>
            <a:srgbClr val="C4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37760" y="2011680"/>
            <a:ext cx="6766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500"/>
              </a:spcAft>
            </a:pPr>
            <a:r>
              <a:rPr sz="1700" b="0">
                <a:solidFill>
                  <a:srgbClr val="1A1A1A"/>
                </a:solidFill>
                <a:latin typeface="Arial"/>
                <a:ea typeface="Arial"/>
                <a:cs typeface="Arial"/>
              </a:rPr>
              <a:t>•  مُتحقَّق: نص الاقتباس موجود حرفيًا (بعد الطيّ) داخل السجل المرجعي المذكور — ولا شيء غير ذلك</a:t>
            </a:r>
          </a:p>
          <a:p>
            <a:pPr algn="r" rtl="1">
              <a:spcAft>
                <a:spcPts val="1500"/>
              </a:spcAft>
            </a:pPr>
            <a:r>
              <a:rPr sz="1700" b="0">
                <a:solidFill>
                  <a:srgbClr val="1A1A1A"/>
                </a:solidFill>
                <a:latin typeface="Arial"/>
                <a:ea typeface="Arial"/>
                <a:cs typeface="Arial"/>
              </a:rPr>
              <a:t>•  مرفوض: المرجع موجود ولا يحوي الاقتباس — ويُعرضان جنبًا إلى جنب مع رابط المصدر</a:t>
            </a:r>
          </a:p>
          <a:p>
            <a:pPr algn="r" rtl="1">
              <a:spcAft>
                <a:spcPts val="1500"/>
              </a:spcAft>
            </a:pPr>
            <a:r>
              <a:rPr sz="1700" b="0">
                <a:solidFill>
                  <a:srgbClr val="1A1A1A"/>
                </a:solidFill>
                <a:latin typeface="Arial"/>
                <a:ea typeface="Arial"/>
                <a:cs typeface="Arial"/>
              </a:rPr>
              <a:t>•  غير قابل للتحقق: لا مرجع / اقتباس فارغ / معرّف مجهول / مهلة — صفر دليل يعني صفر اعتماد</a:t>
            </a:r>
          </a:p>
          <a:p>
            <a:pPr algn="r" rtl="1">
              <a:spcAft>
                <a:spcPts val="1500"/>
              </a:spcAft>
            </a:pPr>
            <a:r>
              <a:rPr sz="1700" b="0">
                <a:solidFill>
                  <a:srgbClr val="1A1A1A"/>
                </a:solidFill>
                <a:latin typeface="Arial"/>
                <a:ea typeface="Arial"/>
                <a:cs typeface="Arial"/>
              </a:rPr>
              <a:t>•  الشارة تجيب عن سؤالًا واحدًا: هل هذا الاقتباس في هذا المرجع؟ لا تدّعي صحة الحديث ولا درجته ولا فتوى</a:t>
            </a:r>
          </a:p>
        </p:txBody>
      </p:sp>
      <p:pic>
        <p:nvPicPr>
          <p:cNvPr id="8" name="Picture 7" descr="demo-term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11680"/>
            <a:ext cx="4073862" cy="40233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5A5A5A"/>
                </a:solidFill>
                <a:latin typeface="Arial"/>
              </a:rPr>
              <a:t>ميزان (mizan)  ·  الشارة محسوبة لا مُدّعاة  ·  islamicaich.org — المسار 04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5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A5A5A"/>
                </a:solidFill>
                <a:latin typeface="Arial"/>
              </a:rPr>
              <a:t>4/10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800" b="1">
                <a:solidFill>
                  <a:srgbClr val="0E5A43"/>
                </a:solidFill>
                <a:latin typeface="Arial"/>
                <a:ea typeface="Arial"/>
                <a:cs typeface="Arial"/>
              </a:rPr>
              <a:t>3 · آلية العمل: ست خطوات وجدول طيٍّ واحد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600" b="0">
                <a:solidFill>
                  <a:srgbClr val="1A1A1A"/>
                </a:solidFill>
                <a:latin typeface="Arial"/>
                <a:ea typeface="Arial"/>
                <a:cs typeface="Arial"/>
              </a:rPr>
              <a:t>كل خطوة رفضٌ مبكر، والمسار السعيد هو آخر خطوة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15600" y="1828800"/>
            <a:ext cx="1005840" cy="50800"/>
          </a:xfrm>
          <a:prstGeom prst="rect">
            <a:avLst/>
          </a:prstGeom>
          <a:solidFill>
            <a:srgbClr val="C4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10881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500"/>
              </a:spcAft>
            </a:pPr>
            <a:r>
              <a:rPr sz="1900" b="0">
                <a:solidFill>
                  <a:srgbClr val="1A1A1A"/>
                </a:solidFill>
                <a:latin typeface="Arial"/>
                <a:ea typeface="Arial"/>
                <a:cs typeface="Arial"/>
              </a:rPr>
              <a:t>•  ١ اقتباس؟  ٢ مرجع؟  ٣ سقف ≤ ٣ مراجع؟  ٤ هل المعرّف يحلّ إلى سجل؟  ٥ حاوية صارمة؟  ٦ دليل مرفق؟</a:t>
            </a:r>
          </a:p>
          <a:p>
            <a:pPr algn="r" rtl="1">
              <a:spcAft>
                <a:spcPts val="1500"/>
              </a:spcAft>
            </a:pPr>
            <a:r>
              <a:rPr sz="1900" b="0">
                <a:solidFill>
                  <a:srgbClr val="1A1A1A"/>
                </a:solidFill>
                <a:latin typeface="Arial"/>
                <a:ea typeface="Arial"/>
                <a:cs typeface="Arial"/>
              </a:rPr>
              <a:t>•  جدول الطيّ في وحدة واحدة: الألف والهمزات والواو والتاء المربوطة والتشكيل والتطويل</a:t>
            </a:r>
          </a:p>
          <a:p>
            <a:pPr algn="r" rtl="1">
              <a:spcAft>
                <a:spcPts val="1500"/>
              </a:spcAft>
            </a:pPr>
            <a:r>
              <a:rPr sz="1900" b="0">
                <a:solidFill>
                  <a:srgbClr val="1A1A1A"/>
                </a:solidFill>
                <a:latin typeface="Arial"/>
                <a:ea typeface="Arial"/>
                <a:cs typeface="Arial"/>
              </a:rPr>
              <a:t>•  والأرقام الهندية ← ASCII والترقيم والمسافات — لا يُضيف حرفًا ولا يحذفه، فلا يُطابَق بالطيّ اختراع</a:t>
            </a:r>
          </a:p>
          <a:p>
            <a:pPr algn="r" rtl="1">
              <a:spcAft>
                <a:spcPts val="1500"/>
              </a:spcAft>
            </a:pPr>
            <a:r>
              <a:rPr sz="1900" b="0">
                <a:solidFill>
                  <a:srgbClr val="1A1A1A"/>
                </a:solidFill>
                <a:latin typeface="Arial"/>
                <a:ea typeface="Arial"/>
                <a:cs typeface="Arial"/>
              </a:rPr>
              <a:t>•  textMatch مفتاح مطابقة لا يُعرض أبدًا · النص الذي يراه المستخدم هو textDisplay كما هو</a:t>
            </a:r>
          </a:p>
          <a:p>
            <a:pPr algn="r" rtl="1">
              <a:spcAft>
                <a:spcPts val="1500"/>
              </a:spcAft>
            </a:pPr>
            <a:r>
              <a:rPr sz="1900" b="0">
                <a:solidFill>
                  <a:srgbClr val="1A1A1A"/>
                </a:solidFill>
                <a:latin typeface="Arial"/>
                <a:ea typeface="Arial"/>
                <a:cs typeface="Arial"/>
              </a:rPr>
              <a:t>•  المُتحقَّق: تابعة واحدة فقط (core) — بلا شبكة ولا ساعة ولا عشوائية ولا حكم نموذج لغوي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5A5A5A"/>
                </a:solidFill>
                <a:latin typeface="Arial"/>
              </a:rPr>
              <a:t>ميزان (mizan)  ·  الشارة محسوبة لا مُدّعاة  ·  islamicaich.org — المسار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5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A5A5A"/>
                </a:solidFill>
                <a:latin typeface="Arial"/>
              </a:rPr>
              <a:t>5/10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800" b="1">
                <a:solidFill>
                  <a:srgbClr val="0E5A43"/>
                </a:solidFill>
                <a:latin typeface="Arial"/>
                <a:ea typeface="Arial"/>
                <a:cs typeface="Arial"/>
              </a:rPr>
              <a:t>4 · الابتكار: إغلاق باب التشابه على «مُتحقَّق»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600" b="0">
                <a:solidFill>
                  <a:srgbClr val="1A1A1A"/>
                </a:solidFill>
                <a:latin typeface="Arial"/>
                <a:ea typeface="Arial"/>
                <a:cs typeface="Arial"/>
              </a:rPr>
              <a:t>ليس تفضيلًا هندسيًّا — بل قياسٌ قرّر أنه الثغرة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15600" y="1828800"/>
            <a:ext cx="1005840" cy="50800"/>
          </a:xfrm>
          <a:prstGeom prst="rect">
            <a:avLst/>
          </a:prstGeom>
          <a:solidFill>
            <a:srgbClr val="C4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10881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500"/>
              </a:spcAft>
            </a:pPr>
            <a:r>
              <a:rPr sz="1900" b="0">
                <a:solidFill>
                  <a:srgbClr val="1A1A1A"/>
                </a:solidFill>
                <a:latin typeface="Arial"/>
                <a:ea typeface="Arial"/>
                <a:cs typeface="Arial"/>
              </a:rPr>
              <a:t>•  لا تضمين ولا مسافة تحرير ولا نسبة ولا عتببة: مسارٌ واحد إلى «مُتحقَّق» هو الحاوية الصارمة</a:t>
            </a:r>
          </a:p>
          <a:p>
            <a:pPr algn="r" rtl="1">
              <a:spcAft>
                <a:spcPts val="1500"/>
              </a:spcAft>
            </a:pPr>
            <a:r>
              <a:rPr sz="1900" b="0">
                <a:solidFill>
                  <a:srgbClr val="1A1A1A"/>
                </a:solidFill>
                <a:latin typeface="Arial"/>
                <a:ea typeface="Arial"/>
                <a:cs typeface="Arial"/>
              </a:rPr>
              <a:t>•  النسبة التقريبية تعيش تشخيصًا عرضيًّا منفصلًا، ولا يدَ لها في الشارة المنشورة</a:t>
            </a:r>
          </a:p>
          <a:p>
            <a:pPr algn="r" rtl="1">
              <a:spcAft>
                <a:spcPts val="1500"/>
              </a:spcAft>
            </a:pPr>
            <a:r>
              <a:rPr sz="1900" b="0">
                <a:solidFill>
                  <a:srgbClr val="1A1A1A"/>
                </a:solidFill>
                <a:latin typeface="Arial"/>
                <a:ea typeface="Arial"/>
                <a:cs typeface="Arial"/>
              </a:rPr>
              <a:t>•  الإثبات آلي لا وعود: G-1 حدود تبعية المُتحقَّق · G-6 موقع وحيد لبناء «مُتحقَّق» — وفشل CI لوظهر مسار ثانٍ</a:t>
            </a:r>
          </a:p>
          <a:p>
            <a:pPr algn="r" rtl="1">
              <a:spcAft>
                <a:spcPts val="1500"/>
              </a:spcAft>
            </a:pPr>
            <a:r>
              <a:rPr sz="1900" b="0">
                <a:solidFill>
                  <a:srgbClr val="1A1A1A"/>
                </a:solidFill>
                <a:latin typeface="Arial"/>
                <a:ea typeface="Arial"/>
                <a:cs typeface="Arial"/>
              </a:rPr>
              <a:t>•  المُتحقَّق لا يستورد وحدة العرض ولا أداة التشابه — الفصل مفروض ببوابة لا بمراجعة بشرية</a:t>
            </a:r>
          </a:p>
          <a:p>
            <a:pPr algn="r" rtl="1">
              <a:spcAft>
                <a:spcPts val="1500"/>
              </a:spcAft>
            </a:pPr>
            <a:r>
              <a:rPr sz="1900" b="0">
                <a:solidFill>
                  <a:srgbClr val="1A1A1A"/>
                </a:solidFill>
                <a:latin typeface="Arial"/>
                <a:ea typeface="Arial"/>
                <a:cs typeface="Arial"/>
              </a:rPr>
              <a:t>•  الفارق عن RAG التقليدي: الاسترجاع يُجيب، والتحقّق يمنع أن يصير الوهم موثوقًا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5A5A5A"/>
                </a:solidFill>
                <a:latin typeface="Arial"/>
              </a:rPr>
              <a:t>ميزان (mizan)  ·  الشارة محسوبة لا مُدّعاة  ·  islamicaich.org — المسار 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5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A5A5A"/>
                </a:solidFill>
                <a:latin typeface="Arial"/>
              </a:rPr>
              <a:t>6/10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800" b="1">
                <a:solidFill>
                  <a:srgbClr val="0E5A43"/>
                </a:solidFill>
                <a:latin typeface="Arial"/>
                <a:ea typeface="Arial"/>
                <a:cs typeface="Arial"/>
              </a:rPr>
              <a:t>5 · الأدلة: رقمٌ يُعاد بنفسه أو يُلغى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600" b="0">
                <a:solidFill>
                  <a:srgbClr val="1A1A1A"/>
                </a:solidFill>
                <a:latin typeface="Arial"/>
                <a:ea typeface="Arial"/>
                <a:cs typeface="Arial"/>
              </a:rPr>
              <a:t>مقياسٌ مُنفَّذ لا قيمة مكتوبة — والحمراء عندنا صفر لا نسبة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15600" y="1828800"/>
            <a:ext cx="1005840" cy="50800"/>
          </a:xfrm>
          <a:prstGeom prst="rect">
            <a:avLst/>
          </a:prstGeom>
          <a:solidFill>
            <a:srgbClr val="C4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10881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500"/>
              </a:spcAft>
            </a:pPr>
            <a:r>
              <a:rPr sz="1900" b="0">
                <a:solidFill>
                  <a:srgbClr val="1A1A1A"/>
                </a:solidFill>
                <a:latin typeface="Arial"/>
                <a:ea typeface="Arial"/>
                <a:cs typeface="Arial"/>
              </a:rPr>
              <a:t>•  ٢٠٠ حالة ذهبية: تشكيل، بلا تشكيل، تطويل، أرقام — كل صيغة صحيحة تتحقق، والتوقع موصوف يدويًّا</a:t>
            </a:r>
          </a:p>
          <a:p>
            <a:pPr algn="r" rtl="1">
              <a:spcAft>
                <a:spcPts val="1500"/>
              </a:spcAft>
            </a:pPr>
            <a:r>
              <a:rPr sz="1900" b="0">
                <a:solidFill>
                  <a:srgbClr val="1A1A1A"/>
                </a:solidFill>
                <a:latin typeface="Arial"/>
                <a:ea typeface="Arial"/>
                <a:cs typeface="Arial"/>
              </a:rPr>
              <a:t>•  ٤٠ حالة هجومية: كلمة تغيّرت، حرف انقلاب، رقم تبدّل ← صفر «مُتحقَّق». الحد المطلوب صفر</a:t>
            </a:r>
          </a:p>
          <a:p>
            <a:pPr algn="r" rtl="1">
              <a:spcAft>
                <a:spcPts val="1500"/>
              </a:spcAft>
            </a:pPr>
            <a:r>
              <a:rPr sz="1900" b="0">
                <a:solidFill>
                  <a:srgbClr val="1A1A1A"/>
                </a:solidFill>
                <a:latin typeface="Arial"/>
                <a:ea typeface="Arial"/>
                <a:cs typeface="Arial"/>
              </a:rPr>
              <a:t>•  المولّد ممنوع من استيراد المُتحقَّق (اختبار يثبت المنع) — فتوقعٌ مأخوذ من تشغيل الكود لا يُثبت شيئًا</a:t>
            </a:r>
          </a:p>
          <a:p>
            <a:pPr algn="r" rtl="1">
              <a:spcAft>
                <a:spcPts val="1500"/>
              </a:spcAft>
            </a:pPr>
            <a:r>
              <a:rPr sz="1900" b="0">
                <a:solidFill>
                  <a:srgbClr val="1A1A1A"/>
                </a:solidFill>
                <a:latin typeface="Arial"/>
                <a:ea typeface="Arial"/>
                <a:cs typeface="Arial"/>
              </a:rPr>
              <a:t>•  مقابل بحث FTS5 مباشر على الـ٤٠ حالة: كشف ٦٥٪ مقابل ١٠٠٪، وصفر اعتماد كاذب (مُنفَّذ فعليًّا)</a:t>
            </a:r>
          </a:p>
          <a:p>
            <a:pPr algn="r" rtl="1">
              <a:spcAft>
                <a:spcPts val="1500"/>
              </a:spcAft>
            </a:pPr>
            <a:r>
              <a:rPr sz="1900" b="0">
                <a:solidFill>
                  <a:srgbClr val="1A1A1A"/>
                </a:solidFill>
                <a:latin typeface="Arial"/>
                <a:ea typeface="Arial"/>
                <a:cs typeface="Arial"/>
              </a:rPr>
              <a:t>•  CI أخضر: تحقّق أنواع واختبارات لكل حزمة + بوابات G-1…G-7 · وdemo في ثانية بلا مفتاح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5A5A5A"/>
                </a:solidFill>
                <a:latin typeface="Arial"/>
              </a:rPr>
              <a:t>ميزان (mizan)  ·  الشارة محسوبة لا مُدّعاة  ·  islamicaich.org — المسار 04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5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A5A5A"/>
                </a:solidFill>
                <a:latin typeface="Arial"/>
              </a:rPr>
              <a:t>7/10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800" b="1">
                <a:solidFill>
                  <a:srgbClr val="0E5A43"/>
                </a:solidFill>
                <a:latin typeface="Arial"/>
                <a:ea typeface="Arial"/>
                <a:cs typeface="Arial"/>
              </a:rPr>
              <a:t>6 · الموثوقية والنسب: ما لا نملكه لا ندّعيه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600" b="0">
                <a:solidFill>
                  <a:srgbClr val="1A1A1A"/>
                </a:solidFill>
                <a:latin typeface="Arial"/>
                <a:ea typeface="Arial"/>
                <a:cs typeface="Arial"/>
              </a:rPr>
              <a:t>شريحة المسار الأساسية: المصدر، حالة الدليل، الامتناع، الإحالة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15600" y="1828800"/>
            <a:ext cx="1005840" cy="50800"/>
          </a:xfrm>
          <a:prstGeom prst="rect">
            <a:avLst/>
          </a:prstGeom>
          <a:solidFill>
            <a:srgbClr val="C4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10881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500"/>
              </a:spcAft>
            </a:pPr>
            <a:r>
              <a:rPr sz="1900" b="0">
                <a:solidFill>
                  <a:srgbClr val="1A1A1A"/>
                </a:solidFill>
                <a:latin typeface="Arial"/>
                <a:ea typeface="Arial"/>
                <a:cs typeface="Arial"/>
              </a:rPr>
              <a:t>•  ٢٧٬٢٣٤ سجلًا مُخدَمًا: القرآن (تنزيل عثماني) + النسائي + أبو داود + ابن ماجه + الترمذي + الموطأ</a:t>
            </a:r>
          </a:p>
          <a:p>
            <a:pPr algn="r" rtl="1">
              <a:spcAft>
                <a:spcPts val="1500"/>
              </a:spcAft>
            </a:pPr>
            <a:r>
              <a:rPr sz="1900" b="0">
                <a:solidFill>
                  <a:srgbClr val="1A1A1A"/>
                </a:solidFill>
                <a:latin typeface="Arial"/>
                <a:ea typeface="Arial"/>
                <a:cs typeface="Arial"/>
              </a:rPr>
              <a:t>•  الدرجة كما يدعيها المرجع نفسه مع مصدرها وأساسها، وإلا كانت null — لا ارتقاء ولا افتراض</a:t>
            </a:r>
          </a:p>
          <a:p>
            <a:pPr algn="r" rtl="1">
              <a:spcAft>
                <a:spcPts val="1500"/>
              </a:spcAft>
            </a:pPr>
            <a:r>
              <a:rPr sz="1900" b="0">
                <a:solidFill>
                  <a:srgbClr val="1A1A1A"/>
                </a:solidFill>
                <a:latin typeface="Arial"/>
                <a:ea typeface="Arial"/>
                <a:cs typeface="Arial"/>
              </a:rPr>
              <a:t>•  ١٥٬٠٢٦ صفًّا بلا درجة محجوب (٤١٫٧٪ من مصدر الحديث) — أخذنا التكلفة بدل تقديم غير موثّق على أنه موثّق</a:t>
            </a:r>
          </a:p>
          <a:p>
            <a:pPr algn="r" rtl="1">
              <a:spcAft>
                <a:spcPts val="1500"/>
              </a:spcAft>
            </a:pPr>
            <a:r>
              <a:rPr sz="1900" b="0">
                <a:solidFill>
                  <a:srgbClr val="1A1A1A"/>
                </a:solidFill>
                <a:latin typeface="Arial"/>
                <a:ea typeface="Arial"/>
                <a:cs typeface="Arial"/>
              </a:rPr>
              <a:t>•  بخاري ومسلم مسجّل «غائب» ولا يُستبدل — الاعتراف بال-gap جزء من الموثوقية لا تنازل عنه</a:t>
            </a:r>
          </a:p>
          <a:p>
            <a:pPr algn="r" rtl="1">
              <a:spcAft>
                <a:spcPts val="1500"/>
              </a:spcAft>
            </a:pPr>
            <a:r>
              <a:rPr sz="1900" b="0">
                <a:solidFill>
                  <a:srgbClr val="1A1A1A"/>
                </a:solidFill>
                <a:latin typeface="Arial"/>
                <a:ea typeface="Arial"/>
                <a:cs typeface="Arial"/>
              </a:rPr>
              <a:t>•  ختم تجزئة وسلسلة سجل؛ تعارض الختم = خطأ فاضح بلا شارة · والأسئلة تُسجَّل بصيغة hash فقط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5A5A5A"/>
                </a:solidFill>
                <a:latin typeface="Arial"/>
              </a:rPr>
              <a:t>ميزان (mizan)  ·  الشارة محسوبة لا مُدّعاة  ·  islamicaich.org — المسار 04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5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A5A5A"/>
                </a:solidFill>
                <a:latin typeface="Arial"/>
              </a:rPr>
              <a:t>8/10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800" b="1">
                <a:solidFill>
                  <a:srgbClr val="0E5A43"/>
                </a:solidFill>
                <a:latin typeface="Arial"/>
                <a:ea typeface="Arial"/>
                <a:cs typeface="Arial"/>
              </a:rPr>
              <a:t>7 · القيمة والمستفيدون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600" b="0">
                <a:solidFill>
                  <a:srgbClr val="1A1A1A"/>
                </a:solidFill>
                <a:latin typeface="Arial"/>
                <a:ea typeface="Arial"/>
                <a:cs typeface="Arial"/>
              </a:rPr>
              <a:t>أداةٌ فورية للمعرفين، ودرعٌ لكل إجابة حوارية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15600" y="1828800"/>
            <a:ext cx="1005840" cy="50800"/>
          </a:xfrm>
          <a:prstGeom prst="rect">
            <a:avLst/>
          </a:prstGeom>
          <a:solidFill>
            <a:srgbClr val="C4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10881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500"/>
              </a:spcAft>
            </a:pPr>
            <a:r>
              <a:rPr sz="1900" b="0">
                <a:solidFill>
                  <a:srgbClr val="1A1A1A"/>
                </a:solidFill>
                <a:latin typeface="Arial"/>
                <a:ea typeface="Arial"/>
                <a:cs typeface="Arial"/>
              </a:rPr>
              <a:t>•  المسار 04: تحقّق فوري للمعرفين — المصدر وحالة الدليل بالتتبّع، وتمييز ما تؤيده المصادر عمّا يحتاج تحقّقًا أو إحالة</a:t>
            </a:r>
          </a:p>
          <a:p>
            <a:pPr algn="r" rtl="1">
              <a:spcAft>
                <a:spcPts val="1500"/>
              </a:spcAft>
            </a:pPr>
            <a:r>
              <a:rPr sz="1900" b="0">
                <a:solidFill>
                  <a:srgbClr val="1A1A1A"/>
                </a:solidFill>
                <a:latin typeface="Arial"/>
                <a:ea typeface="Arial"/>
                <a:cs typeface="Arial"/>
              </a:rPr>
              <a:t>•  المسار 01: أي إجابة ترث الشارات؛ وما لم يتحقق يتحوّل إلى إحالة للمختص بدل الإجابة الواثقة</a:t>
            </a:r>
          </a:p>
          <a:p>
            <a:pPr algn="r" rtl="1">
              <a:spcAft>
                <a:spcPts val="1500"/>
              </a:spcAft>
            </a:pPr>
            <a:r>
              <a:rPr sz="1900" b="0">
                <a:solidFill>
                  <a:srgbClr val="1A1A1A"/>
                </a:solidFill>
                <a:latin typeface="Arial"/>
                <a:ea typeface="Arial"/>
                <a:cs typeface="Arial"/>
              </a:rPr>
              <a:t>•  أثر مباشر: الاقتباس المخترع يُقتل عند المنبع قبل أن يصل إلى طالب علم أو مفتٍ</a:t>
            </a:r>
          </a:p>
          <a:p>
            <a:pPr algn="r" rtl="1">
              <a:spcAft>
                <a:spcPts val="1500"/>
              </a:spcAft>
            </a:pPr>
            <a:r>
              <a:rPr sz="1900" b="0">
                <a:solidFill>
                  <a:srgbClr val="1A1A1A"/>
                </a:solidFill>
                <a:latin typeface="Arial"/>
                <a:ea typeface="Arial"/>
                <a:cs typeface="Arial"/>
              </a:rPr>
              <a:t>•  الثقة تصير قابلة للفحص في ٦٠ ثانية: النص المقتبس + السجل + رابط المصدر أمام كل شارة</a:t>
            </a:r>
          </a:p>
          <a:p>
            <a:pPr algn="r" rtl="1">
              <a:spcAft>
                <a:spcPts val="1500"/>
              </a:spcAft>
            </a:pPr>
            <a:r>
              <a:rPr sz="1900" b="0">
                <a:solidFill>
                  <a:srgbClr val="1A1A1A"/>
                </a:solidFill>
                <a:latin typeface="Arial"/>
                <a:ea typeface="Arial"/>
                <a:cs typeface="Arial"/>
              </a:rPr>
              <a:t>•  قابل لإعادة الاستخدام: مكتبة تحقّق تُركَّب خلف أي بوابة حوار أو محرك محتوى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5A5A5A"/>
                </a:solidFill>
                <a:latin typeface="Arial"/>
              </a:rPr>
              <a:t>ميزان (mizan)  ·  الشارة محسوبة لا مُدّعاة  ·  islamicaich.org — المسار 04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5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A5A5A"/>
                </a:solidFill>
                <a:latin typeface="Arial"/>
              </a:rPr>
              <a:t>9/10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800" b="1">
                <a:solidFill>
                  <a:srgbClr val="0E5A43"/>
                </a:solidFill>
                <a:latin typeface="Arial"/>
                <a:ea typeface="Arial"/>
                <a:cs typeface="Arial"/>
              </a:rPr>
              <a:t>8 · التقنيات المستخدمة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600" b="0">
                <a:solidFill>
                  <a:srgbClr val="1A1A1A"/>
                </a:solidFill>
                <a:latin typeface="Arial"/>
                <a:ea typeface="Arial"/>
                <a:cs typeface="Arial"/>
              </a:rPr>
              <a:t>لا تعقيد زخرفي: كل عنصر في الحل مسؤوليةٌ واحدة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15600" y="1828800"/>
            <a:ext cx="1005840" cy="50800"/>
          </a:xfrm>
          <a:prstGeom prst="rect">
            <a:avLst/>
          </a:prstGeom>
          <a:solidFill>
            <a:srgbClr val="C4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10881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500"/>
              </a:spcAft>
            </a:pPr>
            <a:r>
              <a:rPr sz="1900" b="0">
                <a:solidFill>
                  <a:srgbClr val="1A1A1A"/>
                </a:solidFill>
                <a:latin typeface="Arial"/>
                <a:ea typeface="Arial"/>
                <a:cs typeface="Arial"/>
              </a:rPr>
              <a:t>•  Bun 1.3.14 + TypeScript 5.6 — مستودع واحد بسبع حزم، ولكل حزمة مسؤولية واحدة</a:t>
            </a:r>
          </a:p>
          <a:p>
            <a:pPr algn="r" rtl="1">
              <a:spcAft>
                <a:spcPts val="1500"/>
              </a:spcAft>
            </a:pPr>
            <a:r>
              <a:rPr sz="1900" b="0">
                <a:solidFill>
                  <a:srgbClr val="1A1A1A"/>
                </a:solidFill>
                <a:latin typeface="Arial"/>
                <a:ea typeface="Arial"/>
                <a:cs typeface="Arial"/>
              </a:rPr>
              <a:t>•  Effect Schema عند كل حدّ ثقة: مخرجات النموذج والـAPI تُفكَّ قبل أن تُلمس (لا JSON.parse وتوقّع)</a:t>
            </a:r>
          </a:p>
          <a:p>
            <a:pPr algn="r" rtl="1">
              <a:spcAft>
                <a:spcPts val="1500"/>
              </a:spcAft>
            </a:pPr>
            <a:r>
              <a:rPr sz="1900" b="0">
                <a:solidFill>
                  <a:srgbClr val="1A1A1A"/>
                </a:solidFill>
                <a:latin typeface="Arial"/>
                <a:ea typeface="Arial"/>
                <a:cs typeface="Arial"/>
              </a:rPr>
              <a:t>•  SQLite FTS5 للاسترجاع فوق عمود الطيّ · وتفريغ محلي بمخططات مُصرّحة ومصادر برخص معلنة</a:t>
            </a:r>
          </a:p>
          <a:p>
            <a:pPr algn="r" rtl="1">
              <a:spcAft>
                <a:spcPts val="1500"/>
              </a:spcAft>
            </a:pPr>
            <a:r>
              <a:rPr sz="1900" b="0">
                <a:solidFill>
                  <a:srgbClr val="1A1A1A"/>
                </a:solidFill>
                <a:latin typeface="Arial"/>
                <a:ea typeface="Arial"/>
                <a:cs typeface="Arial"/>
              </a:rPr>
              <a:t>•  نموذج لغوي عبر منفذ HTTPS مسموح (api.openai.com) — يفكّك الادعاءات فقط ولا يصدر حكمًا أبدًا</a:t>
            </a:r>
          </a:p>
          <a:p>
            <a:pPr algn="r" rtl="1">
              <a:spcAft>
                <a:spcPts val="1500"/>
              </a:spcAft>
            </a:pPr>
            <a:r>
              <a:rPr sz="1900" b="0">
                <a:solidFill>
                  <a:srgbClr val="1A1A1A"/>
                </a:solidFill>
                <a:latin typeface="Arial"/>
                <a:ea typeface="Arial"/>
                <a:cs typeface="Arial"/>
              </a:rPr>
              <a:t>•  المُتحقَّق بلا اعتماد إلا على core: لا شبكة ولا ساعة ولا عشوائية — حكمٌ حسابيٌّ مُتكرر النتيجة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5A5A5A"/>
                </a:solidFill>
                <a:latin typeface="Arial"/>
              </a:rPr>
              <a:t>ميزان (mizan)  ·  الشارة محسوبة لا مُدّعاة  ·  islamicaich.org — المسار 04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5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A5A5A"/>
                </a:solidFill>
                <a:latin typeface="Arial"/>
              </a:rPr>
              <a:t>10/10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800" b="1">
                <a:solidFill>
                  <a:srgbClr val="0E5A43"/>
                </a:solidFill>
                <a:latin typeface="Arial"/>
                <a:ea typeface="Arial"/>
                <a:cs typeface="Arial"/>
              </a:rPr>
              <a:t>9 · الحدود الصريحة وخطة الاستمرار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600" b="0">
                <a:solidFill>
                  <a:srgbClr val="1A1A1A"/>
                </a:solidFill>
                <a:latin typeface="Arial"/>
                <a:ea typeface="Arial"/>
                <a:cs typeface="Arial"/>
              </a:rPr>
              <a:t>ما لا ندّعيه مكتوبٌ في المستودع، وطريق التوسّع معلوم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15600" y="1828800"/>
            <a:ext cx="1005840" cy="50800"/>
          </a:xfrm>
          <a:prstGeom prst="rect">
            <a:avLst/>
          </a:prstGeom>
          <a:solidFill>
            <a:srgbClr val="C4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10881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500"/>
              </a:spcAft>
            </a:pPr>
            <a:r>
              <a:rPr sz="1900" b="0">
                <a:solidFill>
                  <a:srgbClr val="1A1A1A"/>
                </a:solidFill>
                <a:latin typeface="Arial"/>
                <a:ea typeface="Arial"/>
                <a:cs typeface="Arial"/>
              </a:rPr>
              <a:t>•  حدود معلنة: بخاري ومسلم غائبان لا مُستبدلان · تفسير بلا خادم يعود unavailable لا مُختلَق · تباعد الصياغة مرفوض و٢٦ حالة مُحكمة وقرارها منشور</a:t>
            </a:r>
          </a:p>
          <a:p>
            <a:pPr algn="r" rtl="1">
              <a:spcAft>
                <a:spcPts val="1500"/>
              </a:spcAft>
            </a:pPr>
            <a:r>
              <a:rPr sz="1900" b="0">
                <a:solidFill>
                  <a:srgbClr val="1A1A1A"/>
                </a:solidFill>
                <a:latin typeface="Arial"/>
                <a:ea typeface="Arial"/>
                <a:cs typeface="Arial"/>
              </a:rPr>
              <a:t>•  تشغيل مستدام: مفتاح LLM واحد + قاعدة محلية — بلا اشتراكات بحث ولا خدمات خفية، والتكلفة محدّدة</a:t>
            </a:r>
          </a:p>
          <a:p>
            <a:pPr algn="r" rtl="1">
              <a:spcAft>
                <a:spcPts val="1500"/>
              </a:spcAft>
            </a:pPr>
            <a:r>
              <a:rPr sz="1900" b="0">
                <a:solidFill>
                  <a:srgbClr val="1A1A1A"/>
                </a:solidFill>
                <a:latin typeface="Arial"/>
                <a:ea typeface="Arial"/>
                <a:cs typeface="Arial"/>
              </a:rPr>
              <a:t>•  صيانة وسلامة: كل رقم في المستودع مربوط بمُخرَج يُعاد تشغيله، والمصادر برخصها ونسبها</a:t>
            </a:r>
          </a:p>
          <a:p>
            <a:pPr algn="r" rtl="1">
              <a:spcAft>
                <a:spcPts val="1500"/>
              </a:spcAft>
            </a:pPr>
            <a:r>
              <a:rPr sz="1900" b="0">
                <a:solidFill>
                  <a:srgbClr val="1A1A1A"/>
                </a:solidFill>
                <a:latin typeface="Arial"/>
                <a:ea typeface="Arial"/>
                <a:cs typeface="Arial"/>
              </a:rPr>
              <a:t>•  خارطة الطريق: واجهة ويب عربية · بخاري ومسلم بترخيص موثّق · التفسير · توسّع المجموعات</a:t>
            </a:r>
          </a:p>
          <a:p>
            <a:pPr algn="r" rtl="1">
              <a:spcAft>
                <a:spcPts val="1500"/>
              </a:spcAft>
            </a:pPr>
            <a:r>
              <a:rPr sz="1900" b="0">
                <a:solidFill>
                  <a:srgbClr val="1A1A1A"/>
                </a:solidFill>
                <a:latin typeface="Arial"/>
                <a:ea typeface="Arial"/>
                <a:cs typeface="Arial"/>
              </a:rPr>
              <a:t>•  التسليم كاملًا: منتج يعمل + مستودع GitHub عام + عرض + فيديو دقيقتين + سجل المصادر والتراخيص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5A5A5A"/>
                </a:solidFill>
                <a:latin typeface="Arial"/>
              </a:rPr>
              <a:t>ميزان (mizan)  ·  الشارة محسوبة لا مُدّعاة  ·  islamicaich.org — المسار 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