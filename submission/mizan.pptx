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Arial"/>
              </a:rPr>
              <a:t>1/7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0E5A43"/>
                </a:solidFill>
                <a:latin typeface="Arial"/>
                <a:ea typeface="Arial"/>
                <a:cs typeface="Arial"/>
              </a:rPr>
              <a:t>ميزان  Mizan — الشارةُ محسوبة لا مُدّعاة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فحصٌ آلي لكل اقتباس من القرآن والحديث قبل أن يظهر أمام أي إنسان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1828800"/>
            <a:ext cx="1005840" cy="50800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881360" cy="86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500"/>
              </a:spcAft>
            </a:pP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مسابقة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الذكاء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الاصطناعي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في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خدمة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المحتوى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الإسلامي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· islamicaich.org</a:t>
            </a:r>
          </a:p>
          <a:p>
            <a:pPr algn="r" rtl="1">
              <a:spcAft>
                <a:spcPts val="1500"/>
              </a:spcAft>
            </a:pP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المسار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04: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أدوات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المعرفة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والتحقق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—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الثقة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والسلامة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العلمية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شرطان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لا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يُستثنيان</a:t>
            </a:r>
            <a:endParaRPr sz="1900" b="0" dirty="0">
              <a:solidFill>
                <a:srgbClr val="1A1A1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  <a:latin typeface="Arial"/>
              </a:rPr>
              <a:t>ميزان (mizan)  ·  الشارة محسوبة لا مُدّعاة  ·  islamicaich.org — المسار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Arial"/>
              </a:rPr>
              <a:t>2/7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0E5A43"/>
                </a:solidFill>
                <a:latin typeface="Arial"/>
                <a:ea typeface="Arial"/>
                <a:cs typeface="Arial"/>
              </a:rPr>
              <a:t>1 · المشكلة: نموذجٌ يخترع نصًّا شرعيًّا بثقة تامة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هنا الوهم أخطر من الكذب: الخطأ يُصنع باسم دين، لا بخطأ في تجربة مستخدم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1828800"/>
            <a:ext cx="1005840" cy="50800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88136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500"/>
              </a:spcAft>
            </a:pP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نماذج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أجنبية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تهيمن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على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العربية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،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ومصادر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إسلامية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موثوقة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قليلة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جدًا</a:t>
            </a:r>
            <a:endParaRPr sz="1900" b="0" dirty="0">
              <a:solidFill>
                <a:srgbClr val="1A1A1A"/>
              </a:solidFill>
              <a:latin typeface="Arial"/>
              <a:ea typeface="Arial"/>
              <a:cs typeface="Arial"/>
            </a:endParaRPr>
          </a:p>
          <a:p>
            <a:pPr algn="r" rtl="1">
              <a:spcAft>
                <a:spcPts val="1500"/>
              </a:spcAft>
            </a:pP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الاقتباس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المخترع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لا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يُفرّقه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العام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عن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الحقيقي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—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والخطأ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هنا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يمسّ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العبادة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والاعتقاد</a:t>
            </a:r>
            <a:endParaRPr sz="1900" b="0" dirty="0">
              <a:solidFill>
                <a:srgbClr val="1A1A1A"/>
              </a:solidFill>
              <a:latin typeface="Arial"/>
              <a:ea typeface="Arial"/>
              <a:cs typeface="Arial"/>
            </a:endParaRPr>
          </a:p>
          <a:p>
            <a:pPr algn="r" rtl="1">
              <a:spcAft>
                <a:spcPts val="1500"/>
              </a:spcAft>
            </a:pP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في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قياس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: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دقة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النماذج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في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التحقق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من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الحديث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≈ 8٪ —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فلا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تجعل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النموذج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حاكمًا</a:t>
            </a:r>
            <a:endParaRPr sz="1900" b="0" dirty="0">
              <a:solidFill>
                <a:srgbClr val="1A1A1A"/>
              </a:solidFill>
              <a:latin typeface="Arial"/>
              <a:ea typeface="Arial"/>
              <a:cs typeface="Arial"/>
            </a:endParaRPr>
          </a:p>
          <a:p>
            <a:pPr algn="r" rtl="1">
              <a:spcAft>
                <a:spcPts val="1500"/>
              </a:spcAft>
            </a:pP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أدوات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التحقق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بالتشابه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تُعطي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الحديث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المخترع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درجة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عالية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—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وهذا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خطر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مُثبت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بالتجربة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(CWE-345)</a:t>
            </a:r>
          </a:p>
          <a:p>
            <a:pPr algn="r" rtl="1">
              <a:spcAft>
                <a:spcPts val="1500"/>
              </a:spcAft>
            </a:pP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البحث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العادي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يقول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«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وجدناه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»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ولا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يقول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«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هذه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العبارة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موجودة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في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هذا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الكتاب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تحديدًا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  <a:latin typeface="Arial"/>
              </a:rPr>
              <a:t>ميزان (mizan)  ·  الشارة محسوبة لا مُدّعاة  ·  islamicaich.org — المسار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Arial"/>
              </a:rPr>
              <a:t>3/7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0" y="320040"/>
            <a:ext cx="6766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0E5A43"/>
                </a:solidFill>
                <a:latin typeface="Arial"/>
                <a:ea typeface="Arial"/>
                <a:cs typeface="Arial"/>
              </a:rPr>
              <a:t>2 · الحل: أجِبْ أولًا، ثم أثبِتْ كل اقتباس على حدة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114300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ثلاث شارات، كل واحدة محسوبة من النص نفسه — لا يطلبها النموذج ولا يوقّعها بشر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98480" y="1828800"/>
            <a:ext cx="1005840" cy="50800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0" y="2011680"/>
            <a:ext cx="6766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500"/>
              </a:spcAft>
            </a:pPr>
            <a:r>
              <a:rPr sz="17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مُتحقَّق: نص الاقتباس موجود حرفيًا داخل المصدر المذكور (بعد توحيد الكتابة) — ولا شيء غير ذلك</a:t>
            </a:r>
          </a:p>
          <a:p>
            <a:pPr algn="r" rtl="1">
              <a:spcAft>
                <a:spcPts val="1500"/>
              </a:spcAft>
            </a:pPr>
            <a:r>
              <a:rPr sz="17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مرفوض: المصدر موجود لكنه لا يحتوي الاقتباس — ويُعرض النصان معًا مع رابط المصدر</a:t>
            </a:r>
          </a:p>
          <a:p>
            <a:pPr algn="r" rtl="1">
              <a:spcAft>
                <a:spcPts val="1500"/>
              </a:spcAft>
            </a:pPr>
            <a:r>
              <a:rPr sz="17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غير قابل للتحقق: لا مصدر / نص فارغ / معرّف مجهول / انتهاء وقت — صفر دليل يعني صفر اعتماد</a:t>
            </a:r>
          </a:p>
          <a:p>
            <a:pPr algn="r" rtl="1">
              <a:spcAft>
                <a:spcPts val="1500"/>
              </a:spcAft>
            </a:pPr>
            <a:r>
              <a:rPr sz="17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الشارة تجيب عن سؤال واحد: هل هذا الاقتباس موجود في هذا المرجع؟ لا تدّعي صحة الحديث ولا درجته ولا فتوى</a:t>
            </a:r>
          </a:p>
        </p:txBody>
      </p:sp>
      <p:pic>
        <p:nvPicPr>
          <p:cNvPr id="8" name="Picture 7" descr="demo-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4073862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  <a:latin typeface="Arial"/>
              </a:rPr>
              <a:t>ميزان (mizan)  ·  الشارة محسوبة لا مُدّعاة  ·  islamicaich.org — المسار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Arial"/>
              </a:rPr>
              <a:t>4/7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0E5A43"/>
                </a:solidFill>
                <a:latin typeface="Arial"/>
                <a:ea typeface="Arial"/>
                <a:cs typeface="Arial"/>
              </a:rPr>
              <a:t>3 · آلية العمل: ست خطوات وقاعدة توحيد كتابة واحدة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كل خطوة ترفض مبكرًا، والنتيجة الجيدة تأتي في آخر خطوة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1828800"/>
            <a:ext cx="1005840" cy="50800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88136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500"/>
              </a:spcAft>
            </a:pP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١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اقتباس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؟  ٢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مصدر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؟  ٣ ≤ ٣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مصادر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؟  ٤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هل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المعرّف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يطابق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سجلًّا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؟  ٥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مطابقة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حرفية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صارمة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؟  ٦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دليل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مرفق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؟</a:t>
            </a:r>
          </a:p>
          <a:p>
            <a:pPr algn="r" rtl="1">
              <a:spcAft>
                <a:spcPts val="1500"/>
              </a:spcAft>
            </a:pP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قاعدة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توحيد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الكتابة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في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مكان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واحد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: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الألف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والهمزات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والتاء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المربوطة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والتشكيل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والتطويل</a:t>
            </a:r>
            <a:endParaRPr sz="1900" b="0" dirty="0">
              <a:solidFill>
                <a:srgbClr val="1A1A1A"/>
              </a:solidFill>
              <a:latin typeface="Arial"/>
              <a:ea typeface="Arial"/>
              <a:cs typeface="Arial"/>
            </a:endParaRPr>
          </a:p>
          <a:p>
            <a:pPr algn="r" rtl="1">
              <a:spcAft>
                <a:spcPts val="1500"/>
              </a:spcAft>
            </a:pP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وتُوحَّد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الأرقام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والترقيم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والمسافات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—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بلا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إضافة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ولا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حذف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،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فلا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تُقارن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كتابة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مخترعة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بالأصل</a:t>
            </a:r>
            <a:endParaRPr sz="1900" b="0" dirty="0">
              <a:solidFill>
                <a:srgbClr val="1A1A1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  <a:latin typeface="Arial"/>
              </a:rPr>
              <a:t>ميزان (mizan)  ·  الشارة محسوبة لا مُدّعاة  ·  islamicaich.org — المسار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Arial"/>
              </a:rPr>
              <a:t>5/7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0E5A43"/>
                </a:solidFill>
                <a:latin typeface="Arial"/>
                <a:ea typeface="Arial"/>
                <a:cs typeface="Arial"/>
              </a:rPr>
              <a:t>4 · الابتكار: لا تشابه على الشارة — حرفٌ واحد فقط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ليس اختيارًا تقنيًا فحسب — بل قياسٌ علمي وجد الثغرة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1828800"/>
            <a:ext cx="1005840" cy="50800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لا تشابه ولا مسافة تحرير ولا نسبة ولا حدّ مسموح: الطريقة الوحيدة للوصول إلى «مُتحقَّق» هي المطابقة الحرفية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النسبة التقريبية مجرد تشخيص جانبي يُعرض للاطلاع فقط، ولا تدخل في الشارة أبدًا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الإثبات آلي لا وعود: G-1 يمنع أي مكتبة ممنوعة داخل المُتحقَّق · G-6 يفرض مكانًا واحدًا لبناءه — وأي طريق ثانٍ يُفشل الـCI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المُتحقَّق لا يستورد كود العرض ولا أداة التشابه — الفصل مضمون ببوابة آلية لا بمراجعة بشرية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الفارق عن RAG التقليدي: الاسترجاع يُجيب، والتحقّق يمنع أن يصير الوهم موثوقًا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  <a:latin typeface="Arial"/>
              </a:rPr>
              <a:t>ميزان (mizan)  ·  الشارة محسوبة لا مُدّعاة  ·  islamicaich.org — المسار 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Arial"/>
              </a:rPr>
              <a:t>6/7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0E5A43"/>
                </a:solidFill>
                <a:latin typeface="Arial"/>
                <a:ea typeface="Arial"/>
                <a:cs typeface="Arial"/>
              </a:rPr>
              <a:t>5 · الأدلة: تجربةٌ تُعيد الحساب، فإن لم تنجح تُلغى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أرقامٌ محسوبة بتشغيل فعلي، لا مكتوبة بيد أحد — والنتيجة السيئة عندنا صفر لا نسبة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1828800"/>
            <a:ext cx="1005840" cy="50800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500"/>
              </a:spcAft>
            </a:pP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٢٠٠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حالة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صحيحة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مُتوقَّعة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: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نصٌّ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مشكّل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وبلا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تشكيل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ومُطوّل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وأرقام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—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كلها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تتحقق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،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والتوقّع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مكتوب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يدويًا</a:t>
            </a:r>
            <a:endParaRPr sz="1900" b="0" dirty="0">
              <a:solidFill>
                <a:srgbClr val="1A1A1A"/>
              </a:solidFill>
              <a:latin typeface="Arial"/>
              <a:ea typeface="Arial"/>
              <a:cs typeface="Arial"/>
            </a:endParaRPr>
          </a:p>
          <a:p>
            <a:pPr algn="r" rtl="1">
              <a:spcAft>
                <a:spcPts val="1500"/>
              </a:spcAft>
            </a:pP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٤٠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حالة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تُقصد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بالخطأ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: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كلمة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تغيّرت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،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حرف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انقلب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،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رقم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تبدّل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←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لا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«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مُتحقَّق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»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إطلاقًا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.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المطلوب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صفر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خطأ</a:t>
            </a:r>
            <a:endParaRPr sz="1900" b="0" dirty="0">
              <a:solidFill>
                <a:srgbClr val="1A1A1A"/>
              </a:solidFill>
              <a:latin typeface="Arial"/>
              <a:ea typeface="Arial"/>
              <a:cs typeface="Arial"/>
            </a:endParaRPr>
          </a:p>
          <a:p>
            <a:pPr algn="r" rtl="1">
              <a:spcAft>
                <a:spcPts val="1500"/>
              </a:spcAft>
            </a:pP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المولّد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ممنوع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من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الوصول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إلى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المُتحقَّق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—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والاختبار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يثبت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هذا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المنع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،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فالتوقّع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يأتي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من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تشغيل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فعلي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لا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من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ورقة</a:t>
            </a:r>
            <a:endParaRPr sz="1900" b="0" dirty="0">
              <a:solidFill>
                <a:srgbClr val="1A1A1A"/>
              </a:solidFill>
              <a:latin typeface="Arial"/>
              <a:ea typeface="Arial"/>
              <a:cs typeface="Arial"/>
            </a:endParaRPr>
          </a:p>
          <a:p>
            <a:pPr algn="r" rtl="1">
              <a:spcAft>
                <a:spcPts val="1500"/>
              </a:spcAft>
            </a:pP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ومقارنة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ببحث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نصي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مباشر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(FTS5)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على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نفس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الـ٤٠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حالة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: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كشف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٦٥٪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مقابل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١٠٠٪،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وصفر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اعتماد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كاذب</a:t>
            </a:r>
            <a:endParaRPr sz="1900" b="0" dirty="0">
              <a:solidFill>
                <a:srgbClr val="1A1A1A"/>
              </a:solidFill>
              <a:latin typeface="Arial"/>
              <a:ea typeface="Arial"/>
              <a:cs typeface="Arial"/>
            </a:endParaRPr>
          </a:p>
          <a:p>
            <a:pPr algn="r" rtl="1">
              <a:spcAft>
                <a:spcPts val="1500"/>
              </a:spcAft>
            </a:pP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الاختبارات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الآلية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خضراء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في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كل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حزمة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+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بوابات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G-1…G-7 ·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وdemo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يعمل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في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ثانية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بلا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مفتاح</a:t>
            </a:r>
            <a:endParaRPr sz="1900" b="0" dirty="0">
              <a:solidFill>
                <a:srgbClr val="1A1A1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  <a:latin typeface="Arial"/>
              </a:rPr>
              <a:t>ميزان (mizan)  ·  الشارة محسوبة لا مُدّعاة  ·  islamicaich.org — المسار 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Arial"/>
              </a:rPr>
              <a:t>7/7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0E5A43"/>
                </a:solidFill>
                <a:latin typeface="Arial"/>
                <a:ea typeface="Arial"/>
                <a:cs typeface="Arial"/>
              </a:rPr>
              <a:t>6 · الموثوقية والنسب: ما لا نملكه لا ندّعيه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باختصار: المصدر، وما يثبته الدليل، ومتى نرفض، ومتى نُحال إلى المختص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1828800"/>
            <a:ext cx="1005840" cy="50800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881360" cy="1838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500"/>
              </a:spcAft>
            </a:pP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٢٧٬٢٣٤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سجلًا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جاهزًا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: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القرآن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(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تنزيل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عثماني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) +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النسائي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+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أبو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داود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+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ابن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ماجه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+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الترمذي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+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الموطأ</a:t>
            </a:r>
            <a:endParaRPr sz="1900" b="0" dirty="0">
              <a:solidFill>
                <a:srgbClr val="1A1A1A"/>
              </a:solidFill>
              <a:latin typeface="Arial"/>
              <a:ea typeface="Arial"/>
              <a:cs typeface="Arial"/>
            </a:endParaRPr>
          </a:p>
          <a:p>
            <a:pPr algn="r" rtl="1">
              <a:spcAft>
                <a:spcPts val="1500"/>
              </a:spcAft>
            </a:pP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الدرجة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كما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يدعيها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المصدر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نفسه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مع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سببها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،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وإلا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كانت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null —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لا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نرفعها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ولا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نخمّنها</a:t>
            </a:r>
            <a:endParaRPr sz="1900" b="0" dirty="0">
              <a:solidFill>
                <a:srgbClr val="1A1A1A"/>
              </a:solidFill>
              <a:latin typeface="Arial"/>
              <a:ea typeface="Arial"/>
              <a:cs typeface="Arial"/>
            </a:endParaRPr>
          </a:p>
          <a:p>
            <a:pPr algn="r" rtl="1">
              <a:spcAft>
                <a:spcPts val="1500"/>
              </a:spcAft>
            </a:pP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١٥٬٠٢٦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صفًّا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بلا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درجة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أُخفيت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(٤١٫٧٪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من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مصدر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الحديث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) —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قبِلنا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هذا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النقص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بدل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تقديم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ما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لا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يستند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إلى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دليل</a:t>
            </a:r>
            <a:endParaRPr sz="1900" b="0" dirty="0">
              <a:solidFill>
                <a:srgbClr val="1A1A1A"/>
              </a:solidFill>
              <a:latin typeface="Arial"/>
              <a:ea typeface="Arial"/>
              <a:cs typeface="Arial"/>
            </a:endParaRPr>
          </a:p>
          <a:p>
            <a:pPr algn="r" rtl="1">
              <a:spcAft>
                <a:spcPts val="1500"/>
              </a:spcAft>
            </a:pP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لكل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سجل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ختمٌ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رقمي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متسلسل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؛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تعارض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الختم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=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خطأ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واضح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بلا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شارة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·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والأسئلة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تُحفظ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بصيغة</a:t>
            </a:r>
            <a:r>
              <a:rPr sz="19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hash </a:t>
            </a:r>
            <a:r>
              <a:rPr sz="1900" b="0" dirty="0" err="1">
                <a:solidFill>
                  <a:srgbClr val="1A1A1A"/>
                </a:solidFill>
                <a:latin typeface="Arial"/>
                <a:ea typeface="Arial"/>
                <a:cs typeface="Arial"/>
              </a:rPr>
              <a:t>فقط</a:t>
            </a:r>
            <a:endParaRPr sz="1900" b="0" dirty="0">
              <a:solidFill>
                <a:srgbClr val="1A1A1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  <a:latin typeface="Arial"/>
              </a:rPr>
              <a:t>ميزان (mizan)  ·  الشارة محسوبة لا مُدّعاة  ·  islamicaich.org — المسار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816</Words>
  <Application>Microsoft Office PowerPoint</Application>
  <PresentationFormat>Widescreen</PresentationFormat>
  <Paragraphs>56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Saudi</cp:lastModifiedBy>
  <cp:revision>2</cp:revision>
  <dcterms:created xsi:type="dcterms:W3CDTF">2013-01-27T09:14:16Z</dcterms:created>
  <dcterms:modified xsi:type="dcterms:W3CDTF">2026-09-29T20:03:02Z</dcterms:modified>
  <cp:category/>
</cp:coreProperties>
</file>